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11"/>
  </p:notesMasterIdLst>
  <p:sldIdLst>
    <p:sldId id="256" r:id="rId7"/>
    <p:sldId id="257" r:id="rId8"/>
    <p:sldId id="258" r:id="rId9"/>
    <p:sldId id="259" r:id="rId10"/>
    <p:sldId id="2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4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reground 01 - S001-wormhole" descr="foregrou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89581" cy="6858000"/>
          </a:xfrm>
          <a:prstGeom prst="rect">
            <a:avLst/>
          </a:prstGeom>
        </p:spPr>
      </p:pic>
      <p:pic>
        <p:nvPicPr>
          <p:cNvPr id="4" name="Foreground 02 - S001-nodes" descr="foreground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349" y="2571750"/>
            <a:ext cx="708837" cy="285750"/>
          </a:xfrm>
          <a:prstGeom prst="rect">
            <a:avLst/>
          </a:prstGeom>
        </p:spPr>
      </p:pic>
      <p:pic>
        <p:nvPicPr>
          <p:cNvPr id="5" name="Foreground 03 - S001-circles" descr="foreground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605" y="3000375"/>
            <a:ext cx="788581" cy="571500"/>
          </a:xfrm>
          <a:prstGeom prst="rect">
            <a:avLst/>
          </a:prstGeom>
        </p:spPr>
      </p:pic>
      <p:pic>
        <p:nvPicPr>
          <p:cNvPr id="6" name="Foreground 04 - S001-type" descr="foreground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349" y="3616523"/>
            <a:ext cx="708837" cy="589359"/>
          </a:xfrm>
          <a:prstGeom prst="rect">
            <a:avLst/>
          </a:prstGeom>
        </p:spPr>
      </p:pic>
      <p:pic>
        <p:nvPicPr>
          <p:cNvPr id="7" name="Foreground 05 - S001-document" descr="foreground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9070" y="4143375"/>
            <a:ext cx="549349" cy="705445"/>
          </a:xfrm>
          <a:prstGeom prst="rect">
            <a:avLst/>
          </a:prstGeom>
        </p:spPr>
      </p:pic>
      <p:sp>
        <p:nvSpPr>
          <p:cNvPr id="8" name="S001-M001"/>
          <p:cNvSpPr txBox="1"/>
          <p:nvPr/>
        </p:nvSpPr>
        <p:spPr>
          <a:xfrm>
            <a:off x="7663757" y="221779"/>
            <a:ext cx="4450775" cy="1302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40" b="1" i="0" spc="-843">
                <a:solidFill>
                  <a:srgbClr val="C5EF59"/>
                </a:solidFill>
                <a:latin typeface="Times New Roman" panose="02020603050405020304"/>
                <a:ea typeface="Times New Roman" panose="02020603050405020304"/>
              </a:rPr>
              <a:t>Z</a:t>
            </a:r>
            <a:r>
              <a:rPr sz="6840" b="1" i="0" spc="-843">
                <a:solidFill>
                  <a:srgbClr val="F5EEDB"/>
                </a:solidFill>
                <a:latin typeface="Times New Roman" panose="02020603050405020304"/>
                <a:ea typeface="Times New Roman" panose="02020603050405020304"/>
              </a:rPr>
              <a:t>Anchor</a:t>
            </a:r>
            <a:r>
              <a:rPr sz="6840" b="1" i="0" spc="-843">
                <a:solidFill>
                  <a:srgbClr val="EA2C73"/>
                </a:solidFill>
                <a:latin typeface="Times New Roman" panose="02020603050405020304"/>
                <a:ea typeface="Times New Roman" panose="02020603050405020304"/>
              </a:rPr>
              <a:t>Flow</a:t>
            </a:r>
            <a:endParaRPr sz="6840" b="1" i="0" spc="-843">
              <a:solidFill>
                <a:srgbClr val="EA2C73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S001-M002"/>
          <p:cNvSpPr txBox="1"/>
          <p:nvPr/>
        </p:nvSpPr>
        <p:spPr>
          <a:xfrm>
            <a:off x="7999171" y="1237471"/>
            <a:ext cx="4115349" cy="5289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i="0" spc="-57">
                <a:solidFill>
                  <a:srgbClr val="F5EEDB"/>
                </a:solidFill>
                <a:latin typeface="微软雅黑" panose="020B0503020204020204" charset="-122"/>
                <a:ea typeface="微软雅黑" panose="020B0503020204020204" charset="-122"/>
              </a:rPr>
              <a:t>从内容构想到可编辑演示</a:t>
            </a:r>
            <a:endParaRPr sz="2800" i="0" spc="-57">
              <a:solidFill>
                <a:srgbClr val="F5EE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001-M003"/>
          <p:cNvSpPr txBox="1"/>
          <p:nvPr/>
        </p:nvSpPr>
        <p:spPr>
          <a:xfrm>
            <a:off x="8837737" y="1791694"/>
            <a:ext cx="3254910" cy="2479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 i="0" spc="129">
                <a:solidFill>
                  <a:srgbClr val="D9CFB5"/>
                </a:solidFill>
                <a:latin typeface="黑体" panose="02010609060101010101" charset="-122"/>
                <a:ea typeface="黑体" panose="02010609060101010101" charset="-122"/>
              </a:rPr>
              <a:t>让想法拥有结构，让视觉可以继续编辑</a:t>
            </a:r>
            <a:endParaRPr sz="1295" b="0" i="0" spc="129">
              <a:solidFill>
                <a:srgbClr val="D9CFB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S001-M004"/>
          <p:cNvSpPr txBox="1"/>
          <p:nvPr/>
        </p:nvSpPr>
        <p:spPr>
          <a:xfrm>
            <a:off x="9588500" y="2595245"/>
            <a:ext cx="2535555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63">
                <a:solidFill>
                  <a:srgbClr val="F1EDE6"/>
                </a:solidFill>
                <a:latin typeface="微软雅黑" panose="020B0503020204020204" charset="-122"/>
                <a:ea typeface="微软雅黑" panose="020B0503020204020204" charset="-122"/>
              </a:rPr>
              <a:t>内容架构 → 视觉探索 → 可编辑重建</a:t>
            </a:r>
            <a:endParaRPr sz="1200" b="0" i="0" spc="-63">
              <a:solidFill>
                <a:srgbClr val="F1E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001-M005"/>
          <p:cNvSpPr txBox="1"/>
          <p:nvPr/>
        </p:nvSpPr>
        <p:spPr>
          <a:xfrm>
            <a:off x="9596120" y="3179445"/>
            <a:ext cx="2505075" cy="2419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5">
                <a:solidFill>
                  <a:srgbClr val="F1EDE6"/>
                </a:solidFill>
                <a:latin typeface="微软雅黑" panose="020B0503020204020204" charset="-122"/>
                <a:ea typeface="微软雅黑" panose="020B0503020204020204" charset="-122"/>
              </a:rPr>
              <a:t>Magic Layer / Image Layer 双分支</a:t>
            </a:r>
            <a:endParaRPr sz="1200" b="0" i="0" spc="-5">
              <a:solidFill>
                <a:srgbClr val="F1E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001-M006"/>
          <p:cNvSpPr txBox="1"/>
          <p:nvPr/>
        </p:nvSpPr>
        <p:spPr>
          <a:xfrm>
            <a:off x="9596120" y="3805555"/>
            <a:ext cx="2489835" cy="2444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23">
                <a:solidFill>
                  <a:srgbClr val="F1EDE6"/>
                </a:solidFill>
                <a:latin typeface="微软雅黑" panose="020B0503020204020204" charset="-122"/>
                <a:ea typeface="微软雅黑" panose="020B0503020204020204" charset="-122"/>
              </a:rPr>
              <a:t>原生文字与有效图层，支持后续修改</a:t>
            </a:r>
            <a:endParaRPr sz="1200" b="0" i="0" spc="-23">
              <a:solidFill>
                <a:srgbClr val="F1E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001-M007"/>
          <p:cNvSpPr txBox="1"/>
          <p:nvPr/>
        </p:nvSpPr>
        <p:spPr>
          <a:xfrm>
            <a:off x="9596120" y="4423410"/>
            <a:ext cx="2595880" cy="2482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4">
                <a:solidFill>
                  <a:srgbClr val="F1EDE6"/>
                </a:solidFill>
                <a:latin typeface="微软雅黑" panose="020B0503020204020204" charset="-122"/>
                <a:ea typeface="微软雅黑" panose="020B0503020204020204" charset="-122"/>
              </a:rPr>
              <a:t>确认、验收与来源记录，支持中断续作</a:t>
            </a:r>
            <a:endParaRPr sz="1200" b="0" i="0" spc="-124">
              <a:solidFill>
                <a:srgbClr val="F1ED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reground 01 - S002-herbarium" descr="foregrou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63" y="142875"/>
            <a:ext cx="11332535" cy="5134570"/>
          </a:xfrm>
          <a:prstGeom prst="rect">
            <a:avLst/>
          </a:prstGeom>
        </p:spPr>
      </p:pic>
      <p:pic>
        <p:nvPicPr>
          <p:cNvPr id="4" name="Foreground 02 - S002-books" descr="foreground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1" y="5188148"/>
            <a:ext cx="1072116" cy="946547"/>
          </a:xfrm>
          <a:prstGeom prst="rect">
            <a:avLst/>
          </a:prstGeom>
        </p:spPr>
      </p:pic>
      <p:pic>
        <p:nvPicPr>
          <p:cNvPr id="5" name="Foreground 03 - S002-openbook" descr="foreground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814" y="5188148"/>
            <a:ext cx="930349" cy="946547"/>
          </a:xfrm>
          <a:prstGeom prst="rect">
            <a:avLst/>
          </a:prstGeom>
        </p:spPr>
      </p:pic>
      <p:pic>
        <p:nvPicPr>
          <p:cNvPr id="6" name="Foreground 04 - S002-checklist" descr="foreground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140" y="5143500"/>
            <a:ext cx="699977" cy="1134070"/>
          </a:xfrm>
          <a:prstGeom prst="rect">
            <a:avLst/>
          </a:prstGeom>
        </p:spPr>
      </p:pic>
      <p:sp>
        <p:nvSpPr>
          <p:cNvPr id="7" name="S002-M001"/>
          <p:cNvSpPr txBox="1"/>
          <p:nvPr/>
        </p:nvSpPr>
        <p:spPr>
          <a:xfrm>
            <a:off x="304800" y="34290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15" b="1" i="0" spc="0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内容先行：六字段确定表达任务</a:t>
            </a:r>
            <a:endParaRPr sz="2915" b="1" i="0" spc="0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002-M002"/>
          <p:cNvSpPr txBox="1"/>
          <p:nvPr/>
        </p:nvSpPr>
        <p:spPr>
          <a:xfrm>
            <a:off x="350008" y="672480"/>
            <a:ext cx="4093476" cy="2462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先明确每页讲什么，再展开视觉表达</a:t>
            </a:r>
            <a:endParaRPr sz="1115" b="1" i="0" spc="112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002-M003"/>
          <p:cNvSpPr txBox="1"/>
          <p:nvPr/>
        </p:nvSpPr>
        <p:spPr>
          <a:xfrm>
            <a:off x="1866717" y="1669690"/>
            <a:ext cx="1264237" cy="2789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页面任务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002-M004"/>
          <p:cNvSpPr txBox="1"/>
          <p:nvPr/>
        </p:nvSpPr>
        <p:spPr>
          <a:xfrm>
            <a:off x="1881299" y="2071277"/>
            <a:ext cx="2029883" cy="6412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5" b="0" i="0" spc="-11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规定这一页承担的传播职责，一页聚焦一个主要任务。</a:t>
            </a:r>
            <a:endParaRPr sz="1145" b="0" i="0" spc="-11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002-M005"/>
          <p:cNvSpPr txBox="1"/>
          <p:nvPr/>
        </p:nvSpPr>
        <p:spPr>
          <a:xfrm>
            <a:off x="4593872" y="1130377"/>
            <a:ext cx="1264237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页面标题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002-M006"/>
          <p:cNvSpPr txBox="1"/>
          <p:nvPr/>
        </p:nvSpPr>
        <p:spPr>
          <a:xfrm>
            <a:off x="4615757" y="1546537"/>
            <a:ext cx="1337158" cy="6266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5" b="0" i="0" spc="-11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为读者提供导航与观点入口，不替代完整的页面内容。</a:t>
            </a:r>
            <a:endParaRPr sz="1145" b="0" i="0" spc="-11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002-M007"/>
          <p:cNvSpPr txBox="1"/>
          <p:nvPr/>
        </p:nvSpPr>
        <p:spPr>
          <a:xfrm>
            <a:off x="7146024" y="831574"/>
            <a:ext cx="1242365" cy="2935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核心表达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002-M008"/>
          <p:cNvSpPr txBox="1"/>
          <p:nvPr/>
        </p:nvSpPr>
        <p:spPr>
          <a:xfrm>
            <a:off x="7197072" y="1284673"/>
            <a:ext cx="1359030" cy="6033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用一句话明确主要观点，统领本页的支撑信息。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002-M009"/>
          <p:cNvSpPr txBox="1"/>
          <p:nvPr/>
        </p:nvSpPr>
        <p:spPr>
          <a:xfrm>
            <a:off x="9712769" y="1655117"/>
            <a:ext cx="1264237" cy="3081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关键信息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002-M010"/>
          <p:cNvSpPr txBox="1"/>
          <p:nvPr/>
        </p:nvSpPr>
        <p:spPr>
          <a:xfrm>
            <a:off x="9749223" y="2093643"/>
            <a:ext cx="1628827" cy="6252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展开组成、步骤、条件、差异或机制，避免同义复述。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002-M011"/>
          <p:cNvSpPr txBox="1"/>
          <p:nvPr/>
        </p:nvSpPr>
        <p:spPr>
          <a:xfrm>
            <a:off x="3573012" y="3243896"/>
            <a:ext cx="1278819" cy="2935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语义关系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002-M012"/>
          <p:cNvSpPr txBox="1"/>
          <p:nvPr/>
        </p:nvSpPr>
        <p:spPr>
          <a:xfrm>
            <a:off x="3594884" y="3631405"/>
            <a:ext cx="1512162" cy="6325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说明真实的并列、流程、层级或因果，不凭空补造关系。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002-M013"/>
          <p:cNvSpPr txBox="1"/>
          <p:nvPr/>
        </p:nvSpPr>
        <p:spPr>
          <a:xfrm>
            <a:off x="8166884" y="3215989"/>
            <a:ext cx="1307982" cy="3045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验收标准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002-M014"/>
          <p:cNvSpPr txBox="1"/>
          <p:nvPr/>
        </p:nvSpPr>
        <p:spPr>
          <a:xfrm>
            <a:off x="8217932" y="3653268"/>
            <a:ext cx="1577779" cy="6252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写清必须覆盖的信息与完成条件，供后续逐项检查。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002-M015"/>
          <p:cNvSpPr txBox="1"/>
          <p:nvPr/>
        </p:nvSpPr>
        <p:spPr>
          <a:xfrm>
            <a:off x="1312542" y="5408431"/>
            <a:ext cx="1293401" cy="30085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整套叙事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002-M016"/>
          <p:cNvSpPr txBox="1"/>
          <p:nvPr/>
        </p:nvSpPr>
        <p:spPr>
          <a:xfrm>
            <a:off x="1305239" y="5795941"/>
            <a:ext cx="2780946" cy="392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按指定页数与材料体量分配内容，形成连续讲述；聚焦任务与充足细节同时成立。</a:t>
            </a:r>
            <a:endParaRPr sz="1100" b="1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002-M017"/>
          <p:cNvSpPr txBox="1"/>
          <p:nvPr/>
        </p:nvSpPr>
        <p:spPr>
          <a:xfrm>
            <a:off x="5432438" y="5408431"/>
            <a:ext cx="1235062" cy="2935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事实边界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002-M018"/>
          <p:cNvSpPr txBox="1"/>
          <p:nvPr/>
        </p:nvSpPr>
        <p:spPr>
          <a:xfrm>
            <a:off x="5439729" y="5789515"/>
            <a:ext cx="2759062" cy="3895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允许归纳、压缩、重组、合并与拆分；不补造无依据的数据、案例、时间或因果。</a:t>
            </a:r>
            <a:endParaRPr sz="1100" b="1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002-M019"/>
          <p:cNvSpPr txBox="1"/>
          <p:nvPr/>
        </p:nvSpPr>
        <p:spPr>
          <a:xfrm>
            <a:off x="9282550" y="5408431"/>
            <a:ext cx="1271528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八项自检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002-M020"/>
          <p:cNvSpPr txBox="1"/>
          <p:nvPr/>
        </p:nvSpPr>
        <p:spPr>
          <a:xfrm>
            <a:off x="9260665" y="5825094"/>
            <a:ext cx="2708026" cy="1952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95" b="1" i="0" spc="-5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内容覆盖 · 叙事连贯 · 页面必要性 · 任务纯度</a:t>
            </a:r>
            <a:endParaRPr sz="1095" b="1" i="0" spc="-5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002-M021"/>
          <p:cNvSpPr txBox="1"/>
          <p:nvPr/>
        </p:nvSpPr>
        <p:spPr>
          <a:xfrm>
            <a:off x="9260665" y="6007291"/>
            <a:ext cx="2708026" cy="2025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95" b="1" i="0" spc="-5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去重 · 语义完整 · 信息密度 · 下一阶段就绪度</a:t>
            </a:r>
            <a:endParaRPr sz="1095" b="1" i="0" spc="-5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S002-M022"/>
          <p:cNvSpPr txBox="1"/>
          <p:nvPr/>
        </p:nvSpPr>
        <p:spPr>
          <a:xfrm>
            <a:off x="3514685" y="6540486"/>
            <a:ext cx="6776887" cy="228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05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完整展示六字段大纲，获批后进入视觉阶段；此时不提前固定配色、构图或视觉载体。</a:t>
            </a:r>
            <a:endParaRPr sz="1050" b="1" i="0" spc="105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002-M023"/>
          <p:cNvSpPr txBox="1"/>
          <p:nvPr/>
        </p:nvSpPr>
        <p:spPr>
          <a:xfrm>
            <a:off x="11798235" y="6531860"/>
            <a:ext cx="301703" cy="22449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spc="-154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60" b="1" i="0" spc="-154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002-M024"/>
          <p:cNvSpPr txBox="1"/>
          <p:nvPr/>
        </p:nvSpPr>
        <p:spPr>
          <a:xfrm>
            <a:off x="1859426" y="1379253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002-M025"/>
          <p:cNvSpPr txBox="1"/>
          <p:nvPr/>
        </p:nvSpPr>
        <p:spPr>
          <a:xfrm>
            <a:off x="4572000" y="847230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S002-M026"/>
          <p:cNvSpPr txBox="1"/>
          <p:nvPr/>
        </p:nvSpPr>
        <p:spPr>
          <a:xfrm>
            <a:off x="7153315" y="555710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002-M027"/>
          <p:cNvSpPr txBox="1"/>
          <p:nvPr/>
        </p:nvSpPr>
        <p:spPr>
          <a:xfrm>
            <a:off x="9654430" y="1379253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002-M028"/>
          <p:cNvSpPr txBox="1"/>
          <p:nvPr/>
        </p:nvSpPr>
        <p:spPr>
          <a:xfrm>
            <a:off x="3573012" y="2953458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002-M029"/>
          <p:cNvSpPr txBox="1"/>
          <p:nvPr/>
        </p:nvSpPr>
        <p:spPr>
          <a:xfrm>
            <a:off x="8152303" y="2938885"/>
            <a:ext cx="352751" cy="2821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535" b="1" i="0" spc="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002-M030"/>
          <p:cNvSpPr txBox="1"/>
          <p:nvPr/>
        </p:nvSpPr>
        <p:spPr>
          <a:xfrm>
            <a:off x="5097012" y="4312410"/>
            <a:ext cx="1016313" cy="5131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 spc="-176">
                <a:solidFill>
                  <a:srgbClr val="111918"/>
                </a:solidFill>
                <a:latin typeface="Times New Roman" panose="02020603050405020304"/>
                <a:ea typeface="Times New Roman" panose="02020603050405020304"/>
              </a:rPr>
              <a:t>EDITOR’S</a:t>
            </a:r>
            <a:endParaRPr sz="1495" b="0" i="0" spc="-176">
              <a:solidFill>
                <a:srgbClr val="111918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 spc="-176">
                <a:solidFill>
                  <a:srgbClr val="111918"/>
                </a:solidFill>
                <a:latin typeface="Times New Roman" panose="02020603050405020304"/>
                <a:ea typeface="Times New Roman" panose="02020603050405020304"/>
              </a:rPr>
              <a:t>HERBARIUM</a:t>
            </a:r>
            <a:endParaRPr sz="1495" b="0" i="0" spc="-176">
              <a:solidFill>
                <a:srgbClr val="11191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reground 01 - S003-exploration" descr="foregrou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375"/>
            <a:ext cx="5812465" cy="3000375"/>
          </a:xfrm>
          <a:prstGeom prst="rect">
            <a:avLst/>
          </a:prstGeom>
        </p:spPr>
      </p:pic>
      <p:pic>
        <p:nvPicPr>
          <p:cNvPr id="4" name="Foreground 02 - S003-style" descr="foreground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698" y="1000125"/>
            <a:ext cx="2693581" cy="2428875"/>
          </a:xfrm>
          <a:prstGeom prst="rect">
            <a:avLst/>
          </a:prstGeom>
        </p:spPr>
      </p:pic>
      <p:pic>
        <p:nvPicPr>
          <p:cNvPr id="5" name="Foreground 03 - S003-continuation" descr="foreground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233" y="1000125"/>
            <a:ext cx="3951767" cy="2562820"/>
          </a:xfrm>
          <a:prstGeom prst="rect">
            <a:avLst/>
          </a:prstGeom>
        </p:spPr>
      </p:pic>
      <p:sp>
        <p:nvSpPr>
          <p:cNvPr id="6" name="S003-M001"/>
          <p:cNvSpPr txBox="1"/>
          <p:nvPr/>
        </p:nvSpPr>
        <p:spPr>
          <a:xfrm>
            <a:off x="304800" y="34290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15" b="1" i="0" spc="0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视觉探索：以 Anchor 延续方向</a:t>
            </a:r>
            <a:endParaRPr sz="2915" b="1" i="0" spc="0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003-M002"/>
          <p:cNvSpPr txBox="1"/>
          <p:nvPr/>
        </p:nvSpPr>
        <p:spPr>
          <a:xfrm>
            <a:off x="422928" y="652602"/>
            <a:ext cx="3794516" cy="2333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5" b="1" i="0" spc="101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保留风格身份，按每页内容重新组织构图</a:t>
            </a:r>
            <a:endParaRPr sz="1005" b="1" i="0" spc="101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003-M003"/>
          <p:cNvSpPr txBox="1"/>
          <p:nvPr/>
        </p:nvSpPr>
        <p:spPr>
          <a:xfrm>
            <a:off x="473976" y="3659312"/>
            <a:ext cx="1993416" cy="3081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从语义到候选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003-M004"/>
          <p:cNvSpPr txBox="1"/>
          <p:nvPr/>
        </p:nvSpPr>
        <p:spPr>
          <a:xfrm>
            <a:off x="473976" y="4046822"/>
            <a:ext cx="2496556" cy="6398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以获批大纲、真实内容与正式画布规划视觉；先确定表达机制，再调用生图。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003-M005"/>
          <p:cNvSpPr txBox="1"/>
          <p:nvPr/>
        </p:nvSpPr>
        <p:spPr>
          <a:xfrm>
            <a:off x="473976" y="4870365"/>
            <a:ext cx="2503847" cy="6398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正式选择集只包含当前运行中通过资格审核的候选；失败图与历史版本不混入。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003-M006"/>
          <p:cNvSpPr txBox="1"/>
          <p:nvPr/>
        </p:nvSpPr>
        <p:spPr>
          <a:xfrm>
            <a:off x="3565721" y="3761346"/>
            <a:ext cx="2183014" cy="3081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选择实际页面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003-M007"/>
          <p:cNvSpPr txBox="1"/>
          <p:nvPr/>
        </p:nvSpPr>
        <p:spPr>
          <a:xfrm>
            <a:off x="3565721" y="4097838"/>
            <a:ext cx="2365309" cy="6398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风格样张只提供视觉参考；真实语义下的正式页面被选定后，同时批准并锁定。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003-M008"/>
          <p:cNvSpPr txBox="1"/>
          <p:nvPr/>
        </p:nvSpPr>
        <p:spPr>
          <a:xfrm>
            <a:off x="3565721" y="5016124"/>
            <a:ext cx="2358018" cy="421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4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已锁定的封面不随正文批次自动重生。</a:t>
            </a:r>
            <a:endParaRPr sz="1115" b="0" i="0" spc="-4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003-M009"/>
          <p:cNvSpPr txBox="1"/>
          <p:nvPr/>
        </p:nvSpPr>
        <p:spPr>
          <a:xfrm>
            <a:off x="6380378" y="3756958"/>
            <a:ext cx="2139257" cy="2852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25" b="1" i="0" spc="10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提炼 Style DNA</a:t>
            </a:r>
            <a:endParaRPr sz="1025" b="1" i="0" spc="10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003-M010"/>
          <p:cNvSpPr txBox="1"/>
          <p:nvPr/>
        </p:nvSpPr>
        <p:spPr>
          <a:xfrm>
            <a:off x="6387669" y="4096592"/>
            <a:ext cx="2299679" cy="6215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 spc="-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延续色彩关系、字体气质、线条、几何、插画语言、背景母题与视觉节奏。</a:t>
            </a:r>
            <a:endParaRPr sz="1185" b="0" i="0" spc="-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003-M011"/>
          <p:cNvSpPr txBox="1"/>
          <p:nvPr/>
        </p:nvSpPr>
        <p:spPr>
          <a:xfrm>
            <a:off x="6380378" y="5008834"/>
            <a:ext cx="2204887" cy="41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不继承具体坐标、元素数量、图示拓扑或整页布局。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003-M012"/>
          <p:cNvSpPr txBox="1"/>
          <p:nvPr/>
        </p:nvSpPr>
        <p:spPr>
          <a:xfrm>
            <a:off x="9216920" y="3761346"/>
            <a:ext cx="2241341" cy="3081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逐页生产与预览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003-M013"/>
          <p:cNvSpPr txBox="1"/>
          <p:nvPr/>
        </p:nvSpPr>
        <p:spPr>
          <a:xfrm>
            <a:off x="9209630" y="4170718"/>
            <a:ext cx="2496556" cy="38474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每页从自身语义重组信息，风格一致不等于复制版式。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003-M014"/>
          <p:cNvSpPr txBox="1"/>
          <p:nvPr/>
        </p:nvSpPr>
        <p:spPr>
          <a:xfrm>
            <a:off x="9209630" y="4899518"/>
            <a:ext cx="2387181" cy="421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默认依次预览接下来的三个未批准页面；用户指定范围优先。</a:t>
            </a:r>
            <a:endParaRPr sz="1115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003-M015"/>
          <p:cNvSpPr txBox="1"/>
          <p:nvPr/>
        </p:nvSpPr>
        <p:spPr>
          <a:xfrm>
            <a:off x="2559442" y="5933908"/>
            <a:ext cx="2904902" cy="342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5" b="0" i="0" spc="11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完整展示，再进入重建</a:t>
            </a:r>
            <a:endParaRPr sz="1145" b="0" i="0" spc="11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003-M016"/>
          <p:cNvSpPr txBox="1"/>
          <p:nvPr/>
        </p:nvSpPr>
        <p:spPr>
          <a:xfrm>
            <a:off x="5884542" y="5927992"/>
            <a:ext cx="5231014" cy="2146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66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按顺序展示全部当前页面，等待整套视觉确认；同时核对内容真值与交接条件。</a:t>
            </a:r>
            <a:endParaRPr sz="1070" b="1" i="0" spc="66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003-M017"/>
          <p:cNvSpPr txBox="1"/>
          <p:nvPr/>
        </p:nvSpPr>
        <p:spPr>
          <a:xfrm>
            <a:off x="5884542" y="6189494"/>
            <a:ext cx="4618488" cy="2244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页面 PASS 后停止自动生成；审美偏好本身不触发重画。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003-M018"/>
          <p:cNvSpPr txBox="1"/>
          <p:nvPr/>
        </p:nvSpPr>
        <p:spPr>
          <a:xfrm>
            <a:off x="1071908" y="3032546"/>
            <a:ext cx="797552" cy="257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候选探索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003-M019"/>
          <p:cNvSpPr txBox="1"/>
          <p:nvPr/>
        </p:nvSpPr>
        <p:spPr>
          <a:xfrm>
            <a:off x="4302203" y="3229322"/>
            <a:ext cx="1118397" cy="24983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0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选择 Anchor</a:t>
            </a:r>
            <a:endParaRPr sz="1185" b="1" i="0" spc="10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003-M020"/>
          <p:cNvSpPr txBox="1"/>
          <p:nvPr/>
        </p:nvSpPr>
        <p:spPr>
          <a:xfrm>
            <a:off x="6708514" y="3252432"/>
            <a:ext cx="921520" cy="2462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风格提炼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003-M021"/>
          <p:cNvSpPr txBox="1"/>
          <p:nvPr/>
        </p:nvSpPr>
        <p:spPr>
          <a:xfrm>
            <a:off x="9909645" y="3265759"/>
            <a:ext cx="804843" cy="2352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逐页延续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003-M022"/>
          <p:cNvSpPr txBox="1"/>
          <p:nvPr/>
        </p:nvSpPr>
        <p:spPr>
          <a:xfrm>
            <a:off x="11812829" y="6502714"/>
            <a:ext cx="308994" cy="2311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 i="0" spc="-154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415" b="1" i="0" spc="-154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reground 01 - S004-bird" descr="foregrou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279" y="1571625"/>
            <a:ext cx="3101163" cy="3857625"/>
          </a:xfrm>
          <a:prstGeom prst="rect">
            <a:avLst/>
          </a:prstGeom>
        </p:spPr>
      </p:pic>
      <p:pic>
        <p:nvPicPr>
          <p:cNvPr id="4" name="Foreground 02 - S004-leftart" descr="foreground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140" y="2286000"/>
            <a:ext cx="2915093" cy="3143250"/>
          </a:xfrm>
          <a:prstGeom prst="rect">
            <a:avLst/>
          </a:prstGeom>
        </p:spPr>
      </p:pic>
      <p:pic>
        <p:nvPicPr>
          <p:cNvPr id="5" name="Foreground 03 - S004-rightart" descr="foreground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977" y="1857375"/>
            <a:ext cx="1825256" cy="3571875"/>
          </a:xfrm>
          <a:prstGeom prst="rect">
            <a:avLst/>
          </a:prstGeom>
        </p:spPr>
      </p:pic>
      <p:pic>
        <p:nvPicPr>
          <p:cNvPr id="6" name="Foreground 04 - S004-lefticons" descr="foreground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95" y="2330648"/>
            <a:ext cx="841744" cy="3089672"/>
          </a:xfrm>
          <a:prstGeom prst="rect">
            <a:avLst/>
          </a:prstGeom>
        </p:spPr>
      </p:pic>
      <p:pic>
        <p:nvPicPr>
          <p:cNvPr id="7" name="Foreground 05 - S004-righticons" descr="foreground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907" y="2330648"/>
            <a:ext cx="850605" cy="3098602"/>
          </a:xfrm>
          <a:prstGeom prst="rect">
            <a:avLst/>
          </a:prstGeom>
        </p:spPr>
      </p:pic>
      <p:sp>
        <p:nvSpPr>
          <p:cNvPr id="8" name="S004-M001"/>
          <p:cNvSpPr txBox="1"/>
          <p:nvPr/>
        </p:nvSpPr>
        <p:spPr>
          <a:xfrm>
            <a:off x="304800" y="34290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15" b="1" i="0" spc="0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双分支重建：Magic Layer 与 Image Layer</a:t>
            </a:r>
            <a:endParaRPr sz="2915" b="1" i="0" spc="0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004-M002"/>
          <p:cNvSpPr txBox="1"/>
          <p:nvPr/>
        </p:nvSpPr>
        <p:spPr>
          <a:xfrm>
            <a:off x="313554" y="563163"/>
            <a:ext cx="5026835" cy="22441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共享正确内容与验收要求，用不同方式恢复有用的图形结构</a:t>
            </a:r>
            <a:endParaRPr sz="1115" b="1" i="0" spc="112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004-M003"/>
          <p:cNvSpPr txBox="1"/>
          <p:nvPr/>
        </p:nvSpPr>
        <p:spPr>
          <a:xfrm>
            <a:off x="5665781" y="848257"/>
            <a:ext cx="972556" cy="2583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共同准备</a:t>
            </a:r>
            <a:endParaRPr sz="1200" b="1" i="0" spc="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004-M004"/>
          <p:cNvSpPr txBox="1"/>
          <p:nvPr/>
        </p:nvSpPr>
        <p:spPr>
          <a:xfrm>
            <a:off x="4579291" y="1132487"/>
            <a:ext cx="3160118" cy="5280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以获批页面与最终内容真值建立文字清单、清理清单；安全清理待恢复的原生文字，保护合法图形。所有页面完成消字后，由用户明确选择后端。</a:t>
            </a:r>
            <a:endParaRPr sz="1100" b="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004-M005"/>
          <p:cNvSpPr txBox="1"/>
          <p:nvPr/>
        </p:nvSpPr>
        <p:spPr>
          <a:xfrm>
            <a:off x="459382" y="1942249"/>
            <a:ext cx="2285098" cy="2852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25" b="1" i="0" spc="10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Magic Layer 分支</a:t>
            </a:r>
            <a:endParaRPr sz="1025" b="1" i="0" spc="10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004-M006"/>
          <p:cNvSpPr txBox="1"/>
          <p:nvPr/>
        </p:nvSpPr>
        <p:spPr>
          <a:xfrm>
            <a:off x="2945916" y="1977036"/>
            <a:ext cx="775679" cy="22441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96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skill 推荐</a:t>
            </a:r>
            <a:endParaRPr sz="1115" b="1" i="0" spc="96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004-M007"/>
          <p:cNvSpPr txBox="1"/>
          <p:nvPr/>
        </p:nvSpPr>
        <p:spPr>
          <a:xfrm>
            <a:off x="1101072" y="2449506"/>
            <a:ext cx="1111106" cy="2425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结构恢复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004-M008"/>
          <p:cNvSpPr txBox="1"/>
          <p:nvPr/>
        </p:nvSpPr>
        <p:spPr>
          <a:xfrm>
            <a:off x="1101072" y="2700202"/>
            <a:ext cx="2299679" cy="3435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0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将文字清理后的页面交给 Canva Magic Layers，评估图形结构恢复结果。</a:t>
            </a:r>
            <a:endParaRPr sz="1100" b="0" i="0" spc="-10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004-M009"/>
          <p:cNvSpPr txBox="1"/>
          <p:nvPr/>
        </p:nvSpPr>
        <p:spPr>
          <a:xfrm>
            <a:off x="1101072" y="3192879"/>
            <a:ext cx="1132978" cy="2425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中间态核验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004-M010"/>
          <p:cNvSpPr txBox="1"/>
          <p:nvPr/>
        </p:nvSpPr>
        <p:spPr>
          <a:xfrm>
            <a:off x="1101072" y="3435493"/>
            <a:ext cx="2095512" cy="3312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取得以图形为主的单页 PPTX，核验来源与画布，再恢复原生文字。</a:t>
            </a:r>
            <a:endParaRPr sz="1100" b="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004-M011"/>
          <p:cNvSpPr txBox="1"/>
          <p:nvPr/>
        </p:nvSpPr>
        <p:spPr>
          <a:xfrm>
            <a:off x="1101072" y="3988522"/>
            <a:ext cx="1322564" cy="2462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有效编辑粒度</a:t>
            </a:r>
            <a:endParaRPr sz="1200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004-M012"/>
          <p:cNvSpPr txBox="1"/>
          <p:nvPr/>
        </p:nvSpPr>
        <p:spPr>
          <a:xfrm>
            <a:off x="1101072" y="4236308"/>
            <a:ext cx="2394472" cy="3410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恢复有实际修改价值的视觉结构，不追求全图矢量化或所有细节原子级拆解。</a:t>
            </a:r>
            <a:endParaRPr sz="1100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004-M013"/>
          <p:cNvSpPr txBox="1"/>
          <p:nvPr/>
        </p:nvSpPr>
        <p:spPr>
          <a:xfrm>
            <a:off x="1101072" y="4788955"/>
            <a:ext cx="1147560" cy="257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内容职责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004-M014"/>
          <p:cNvSpPr txBox="1"/>
          <p:nvPr/>
        </p:nvSpPr>
        <p:spPr>
          <a:xfrm>
            <a:off x="1101072" y="5037988"/>
            <a:ext cx="1789249" cy="3628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Canva 输出是结构中间态，不能代替最终内容真值。</a:t>
            </a:r>
            <a:endParaRPr sz="1100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004-M015"/>
          <p:cNvSpPr txBox="1"/>
          <p:nvPr/>
        </p:nvSpPr>
        <p:spPr>
          <a:xfrm>
            <a:off x="8210641" y="1949539"/>
            <a:ext cx="2358018" cy="2779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25" b="1" i="0" spc="10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Image Layer 分支</a:t>
            </a:r>
            <a:endParaRPr sz="1025" b="1" i="0" spc="10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004-M016"/>
          <p:cNvSpPr txBox="1"/>
          <p:nvPr/>
        </p:nvSpPr>
        <p:spPr>
          <a:xfrm>
            <a:off x="8210641" y="2487196"/>
            <a:ext cx="1140269" cy="2535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计划与调用</a:t>
            </a:r>
            <a:endParaRPr sz="1200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004-M017"/>
          <p:cNvSpPr txBox="1"/>
          <p:nvPr/>
        </p:nvSpPr>
        <p:spPr>
          <a:xfrm>
            <a:off x="8217932" y="2727699"/>
            <a:ext cx="2102803" cy="3628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按编辑用途制定图层计划和框选，完成就绪检查及真实调用前费用授权。</a:t>
            </a:r>
            <a:endParaRPr sz="1100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004-M018"/>
          <p:cNvSpPr txBox="1"/>
          <p:nvPr/>
        </p:nvSpPr>
        <p:spPr>
          <a:xfrm>
            <a:off x="8217932" y="3258476"/>
            <a:ext cx="1132978" cy="2425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图层验证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004-M019"/>
          <p:cNvSpPr txBox="1"/>
          <p:nvPr/>
        </p:nvSpPr>
        <p:spPr>
          <a:xfrm>
            <a:off x="8217932" y="3493799"/>
            <a:ext cx="2131966" cy="3531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核对返回对象的身份、画布映射与放置，再构建单页并恢复原生文字。</a:t>
            </a:r>
            <a:endParaRPr sz="1100" b="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004-M020"/>
          <p:cNvSpPr txBox="1"/>
          <p:nvPr/>
        </p:nvSpPr>
        <p:spPr>
          <a:xfrm>
            <a:off x="8217932" y="4031002"/>
            <a:ext cx="1140269" cy="257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合理合并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S004-M021"/>
          <p:cNvSpPr txBox="1"/>
          <p:nvPr/>
        </p:nvSpPr>
        <p:spPr>
          <a:xfrm>
            <a:off x="8217932" y="4280042"/>
            <a:ext cx="2212177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共同移动、删除或替换的元素可以合并，避免为可编辑而过度拆分。</a:t>
            </a:r>
            <a:endParaRPr sz="1100" b="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004-M022"/>
          <p:cNvSpPr txBox="1"/>
          <p:nvPr/>
        </p:nvSpPr>
        <p:spPr>
          <a:xfrm>
            <a:off x="8217932" y="4818102"/>
            <a:ext cx="1140269" cy="257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质量边界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004-M023"/>
          <p:cNvSpPr txBox="1"/>
          <p:nvPr/>
        </p:nvSpPr>
        <p:spPr>
          <a:xfrm>
            <a:off x="8217932" y="5053432"/>
            <a:ext cx="3050743" cy="36041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检查隔离、背景修补与重组保真；普通局限记录后继续，严重错误在授权条件下最多追加一次质量重拆。</a:t>
            </a:r>
            <a:endParaRPr sz="1100" b="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004-M024"/>
          <p:cNvSpPr txBox="1"/>
          <p:nvPr/>
        </p:nvSpPr>
        <p:spPr>
          <a:xfrm>
            <a:off x="5359518" y="5393858"/>
            <a:ext cx="1585082" cy="30085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共同交付门槛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S004-M025"/>
          <p:cNvSpPr txBox="1"/>
          <p:nvPr/>
        </p:nvSpPr>
        <p:spPr>
          <a:xfrm>
            <a:off x="3857402" y="5823848"/>
            <a:ext cx="870472" cy="2279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内容正确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004-M026"/>
          <p:cNvSpPr txBox="1"/>
          <p:nvPr/>
        </p:nvSpPr>
        <p:spPr>
          <a:xfrm>
            <a:off x="5067849" y="5823848"/>
            <a:ext cx="870472" cy="2279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语义忠实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004-M027"/>
          <p:cNvSpPr txBox="1"/>
          <p:nvPr/>
        </p:nvSpPr>
        <p:spPr>
          <a:xfrm>
            <a:off x="6227259" y="5825094"/>
            <a:ext cx="1045476" cy="22441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功能可编辑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004-M028"/>
          <p:cNvSpPr txBox="1"/>
          <p:nvPr/>
        </p:nvSpPr>
        <p:spPr>
          <a:xfrm>
            <a:off x="7401239" y="5825094"/>
            <a:ext cx="870472" cy="22441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视觉忠实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004-M029"/>
          <p:cNvSpPr txBox="1"/>
          <p:nvPr/>
        </p:nvSpPr>
        <p:spPr>
          <a:xfrm>
            <a:off x="4214701" y="6153051"/>
            <a:ext cx="3896600" cy="2171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-9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四项同时通过，只合并当前已验收并封存的单页，再执行整套验证。</a:t>
            </a:r>
            <a:endParaRPr sz="1115" b="1" i="0" spc="-9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004-M030"/>
          <p:cNvSpPr txBox="1"/>
          <p:nvPr/>
        </p:nvSpPr>
        <p:spPr>
          <a:xfrm>
            <a:off x="3828227" y="6357117"/>
            <a:ext cx="4698699" cy="2171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-8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后端不自动选择，不跨分支自动回退；可编辑不等于所有图形内部细节均可编辑。</a:t>
            </a:r>
            <a:endParaRPr sz="1115" b="1" i="0" spc="-8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S004-M031"/>
          <p:cNvSpPr txBox="1"/>
          <p:nvPr/>
        </p:nvSpPr>
        <p:spPr>
          <a:xfrm>
            <a:off x="11710733" y="6437117"/>
            <a:ext cx="323588" cy="2529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-133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35" b="1" i="0" spc="-133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reground 01 - S005-flat" descr="foregrou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" y="1616273"/>
            <a:ext cx="4191000" cy="2241352"/>
          </a:xfrm>
          <a:prstGeom prst="rect">
            <a:avLst/>
          </a:prstGeom>
        </p:spPr>
      </p:pic>
      <p:pic>
        <p:nvPicPr>
          <p:cNvPr id="4" name="Foreground 02 - S005-coverbody" descr="foreground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279" y="2286000"/>
            <a:ext cx="4049233" cy="1705570"/>
          </a:xfrm>
          <a:prstGeom prst="rect">
            <a:avLst/>
          </a:prstGeom>
        </p:spPr>
      </p:pic>
      <p:pic>
        <p:nvPicPr>
          <p:cNvPr id="5" name="Foreground 03 - S005-heading" descr="foreground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67" y="1428750"/>
            <a:ext cx="4049233" cy="2562820"/>
          </a:xfrm>
          <a:prstGeom prst="rect">
            <a:avLst/>
          </a:prstGeom>
        </p:spPr>
      </p:pic>
      <p:pic>
        <p:nvPicPr>
          <p:cNvPr id="6" name="Foreground 04 - S005-glyph" descr="foreground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4536558" cy="2286000"/>
          </a:xfrm>
          <a:prstGeom prst="rect">
            <a:avLst/>
          </a:prstGeom>
        </p:spPr>
      </p:pic>
      <p:pic>
        <p:nvPicPr>
          <p:cNvPr id="7" name="Foreground 05 - S005-office" descr="foreground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791" y="5188148"/>
            <a:ext cx="3827721" cy="1375172"/>
          </a:xfrm>
          <a:prstGeom prst="rect">
            <a:avLst/>
          </a:prstGeom>
        </p:spPr>
      </p:pic>
      <p:pic>
        <p:nvPicPr>
          <p:cNvPr id="8" name="Foreground 06 - S005-resume" descr="foreground_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5000625"/>
            <a:ext cx="3810000" cy="1857375"/>
          </a:xfrm>
          <a:prstGeom prst="rect">
            <a:avLst/>
          </a:prstGeom>
        </p:spPr>
      </p:pic>
      <p:sp>
        <p:nvSpPr>
          <p:cNvPr id="9" name="S005-M001"/>
          <p:cNvSpPr txBox="1"/>
          <p:nvPr/>
        </p:nvSpPr>
        <p:spPr>
          <a:xfrm>
            <a:off x="304800" y="34290"/>
            <a:ext cx="11338560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15" b="1" i="0" spc="0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具体优化：视觉、标题与工程兼容</a:t>
            </a:r>
            <a:endParaRPr sz="2915" b="1" i="0" spc="0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S005-M002"/>
          <p:cNvSpPr txBox="1"/>
          <p:nvPr/>
        </p:nvSpPr>
        <p:spPr>
          <a:xfrm>
            <a:off x="335426" y="607754"/>
            <a:ext cx="5165385" cy="2583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107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精细规则保留创意表达，也让重建与续作有据可查</a:t>
            </a:r>
            <a:endParaRPr sz="1070" b="1" i="0" spc="107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005-M003"/>
          <p:cNvSpPr txBox="1"/>
          <p:nvPr/>
        </p:nvSpPr>
        <p:spPr>
          <a:xfrm>
            <a:off x="1210446" y="1102476"/>
            <a:ext cx="1606954" cy="2827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二维与非照片化</a:t>
            </a:r>
            <a:endParaRPr sz="1200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005-M004"/>
          <p:cNvSpPr txBox="1"/>
          <p:nvPr/>
        </p:nvSpPr>
        <p:spPr>
          <a:xfrm>
            <a:off x="1290657" y="1481450"/>
            <a:ext cx="2773656" cy="5815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拒绝等距、轴测、2.5D、伪 3D，以及以实体体积为主的场景；排除摄影素材感与逼真照片渲染。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005-M005"/>
          <p:cNvSpPr txBox="1"/>
          <p:nvPr/>
        </p:nvSpPr>
        <p:spPr>
          <a:xfrm>
            <a:off x="1290657" y="2144659"/>
            <a:ext cx="2671560" cy="41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默认允许局部遮挡、轻微远近与浅空间线索，保留复杂插画与高信息密度。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005-M006"/>
          <p:cNvSpPr txBox="1"/>
          <p:nvPr/>
        </p:nvSpPr>
        <p:spPr>
          <a:xfrm>
            <a:off x="5009510" y="1101230"/>
            <a:ext cx="2255922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封面与正文标题分工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005-M007"/>
          <p:cNvSpPr txBox="1"/>
          <p:nvPr/>
        </p:nvSpPr>
        <p:spPr>
          <a:xfrm>
            <a:off x="5082430" y="1467740"/>
            <a:ext cx="2853867" cy="5790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封面可以使用展示性大标题；正文标题承担导航与层级，主体由内容关系、结构、机制或插画承载。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005-M008"/>
          <p:cNvSpPr txBox="1"/>
          <p:nvPr/>
        </p:nvSpPr>
        <p:spPr>
          <a:xfrm>
            <a:off x="5082430" y="2042626"/>
            <a:ext cx="2766365" cy="41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正文不继承封面的标题字号、占屏比例或大字主视觉构图。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005-M009"/>
          <p:cNvSpPr txBox="1"/>
          <p:nvPr/>
        </p:nvSpPr>
        <p:spPr>
          <a:xfrm>
            <a:off x="8998159" y="1115803"/>
            <a:ext cx="1978835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普通页标题统一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005-M010"/>
          <p:cNvSpPr txBox="1"/>
          <p:nvPr/>
        </p:nvSpPr>
        <p:spPr>
          <a:xfrm>
            <a:off x="8531486" y="1496887"/>
            <a:ext cx="3101779" cy="4041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统一或自由只选择一次；统一规范由首张合格正文页的常规标题建立。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005-M011"/>
          <p:cNvSpPr txBox="1"/>
          <p:nvPr/>
        </p:nvSpPr>
        <p:spPr>
          <a:xfrm>
            <a:off x="8531486" y="2035336"/>
            <a:ext cx="3218456" cy="40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生成时保持区域与对齐；原生恢复后独立校准，长标题保持公共字号，最多两行。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005-M012"/>
          <p:cNvSpPr txBox="1"/>
          <p:nvPr/>
        </p:nvSpPr>
        <p:spPr>
          <a:xfrm>
            <a:off x="1232331" y="3965405"/>
            <a:ext cx="1811122" cy="2717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文字与字体拟合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005-M013"/>
          <p:cNvSpPr txBox="1"/>
          <p:nvPr/>
        </p:nvSpPr>
        <p:spPr>
          <a:xfrm>
            <a:off x="1206931" y="4317342"/>
            <a:ext cx="2744480" cy="564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按可见字形包络拟合宽高、字距、基线与位置，禁止机械地把图片像素换算为磅值。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005-M014"/>
          <p:cNvSpPr txBox="1"/>
          <p:nvPr/>
        </p:nvSpPr>
        <p:spPr>
          <a:xfrm>
            <a:off x="1187881" y="4914955"/>
            <a:ext cx="2591349" cy="557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缺失字体使用整套一致的替代映射，默认不嵌入字体；文件体积未改善不单独判失败。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005-M015"/>
          <p:cNvSpPr txBox="1"/>
          <p:nvPr/>
        </p:nvSpPr>
        <p:spPr>
          <a:xfrm>
            <a:off x="5060558" y="3958122"/>
            <a:ext cx="2773656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PowerPoint 与 WPS 路径</a:t>
            </a:r>
            <a:endParaRPr sz="1200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005-M016"/>
          <p:cNvSpPr txBox="1"/>
          <p:nvPr/>
        </p:nvSpPr>
        <p:spPr>
          <a:xfrm>
            <a:off x="5075139" y="4309188"/>
            <a:ext cx="2985114" cy="56694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优先 PowerPoint；不可用时，可选经能力检查的 WPS 演示备用路径，保留来源、画布与完整性要求。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005-M017"/>
          <p:cNvSpPr txBox="1"/>
          <p:nvPr/>
        </p:nvSpPr>
        <p:spPr>
          <a:xfrm>
            <a:off x="5075139" y="4899518"/>
            <a:ext cx="3050743" cy="41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正式导入、保存或重开失败，不在同一操作中换应用重试；备用路径不等于全面兼容保证。</a:t>
            </a:r>
            <a:endParaRPr sz="1120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005-M018"/>
          <p:cNvSpPr txBox="1"/>
          <p:nvPr/>
        </p:nvSpPr>
        <p:spPr>
          <a:xfrm>
            <a:off x="9005450" y="3959368"/>
            <a:ext cx="2168420" cy="275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中断续作与有限返工</a:t>
            </a:r>
            <a:endParaRPr sz="1200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005-M019"/>
          <p:cNvSpPr txBox="1"/>
          <p:nvPr/>
        </p:nvSpPr>
        <p:spPr>
          <a:xfrm>
            <a:off x="8618988" y="4324632"/>
            <a:ext cx="3101779" cy="557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保持已批准页面、来源指纹、锁与预算，从有效检查点</a:t>
            </a:r>
            <a:r>
              <a:rPr lang="en-US"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恢复，最终验证绑定实际交付文件。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S005-M020"/>
          <p:cNvSpPr txBox="1"/>
          <p:nvPr/>
        </p:nvSpPr>
        <p:spPr>
          <a:xfrm>
            <a:off x="8932043" y="4874620"/>
            <a:ext cx="3094488" cy="37499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字体或标题后处理不自动重跑远程重建，普通模型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i="0" spc="-10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局限不驱动循环调用。</a:t>
            </a:r>
            <a:endParaRPr sz="1120" i="0" spc="-10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005-M021"/>
          <p:cNvSpPr txBox="1"/>
          <p:nvPr/>
        </p:nvSpPr>
        <p:spPr>
          <a:xfrm>
            <a:off x="4484498" y="6502877"/>
            <a:ext cx="3809098" cy="2317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spc="3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清理待恢复的正文，保护承担构图作用的合法图形化文字。</a:t>
            </a:r>
            <a:endParaRPr sz="1080" b="1" i="0" spc="3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005-M022"/>
          <p:cNvSpPr txBox="1"/>
          <p:nvPr/>
        </p:nvSpPr>
        <p:spPr>
          <a:xfrm>
            <a:off x="11769072" y="6517287"/>
            <a:ext cx="352751" cy="3040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spc="97">
                <a:solidFill>
                  <a:srgbClr val="F5ECD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35" b="1" i="0" spc="97">
              <a:solidFill>
                <a:srgbClr val="F5EC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005-M023"/>
          <p:cNvSpPr txBox="1"/>
          <p:nvPr/>
        </p:nvSpPr>
        <p:spPr>
          <a:xfrm rot="20880000">
            <a:off x="5002219" y="2638993"/>
            <a:ext cx="819437" cy="4611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封面</a:t>
            </a:r>
            <a:endParaRPr sz="1185" b="0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S005-M024"/>
          <p:cNvSpPr txBox="1"/>
          <p:nvPr/>
        </p:nvSpPr>
        <p:spPr>
          <a:xfrm>
            <a:off x="6870110" y="2741331"/>
            <a:ext cx="790261" cy="2352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正文标题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005-M025"/>
          <p:cNvSpPr txBox="1"/>
          <p:nvPr/>
        </p:nvSpPr>
        <p:spPr>
          <a:xfrm>
            <a:off x="8866912" y="2676682"/>
            <a:ext cx="1322564" cy="3410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正文标题</a:t>
            </a:r>
            <a:endParaRPr sz="1115" b="0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005-M026"/>
          <p:cNvSpPr txBox="1"/>
          <p:nvPr/>
        </p:nvSpPr>
        <p:spPr>
          <a:xfrm>
            <a:off x="736482" y="5320978"/>
            <a:ext cx="411090" cy="20611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57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字距</a:t>
            </a:r>
            <a:endParaRPr sz="1185" b="1" i="0" spc="57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005-M027"/>
          <p:cNvSpPr txBox="1"/>
          <p:nvPr/>
        </p:nvSpPr>
        <p:spPr>
          <a:xfrm>
            <a:off x="2056303" y="5839667"/>
            <a:ext cx="345460" cy="2025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-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高度</a:t>
            </a:r>
            <a:endParaRPr sz="1115" b="1" i="0" spc="-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005-M028"/>
          <p:cNvSpPr txBox="1"/>
          <p:nvPr/>
        </p:nvSpPr>
        <p:spPr>
          <a:xfrm>
            <a:off x="2056303" y="6108821"/>
            <a:ext cx="345460" cy="2039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5" b="1" i="0" spc="-11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基线</a:t>
            </a:r>
            <a:endParaRPr sz="1145" b="1" i="0" spc="-11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005-M029"/>
          <p:cNvSpPr txBox="1"/>
          <p:nvPr/>
        </p:nvSpPr>
        <p:spPr>
          <a:xfrm>
            <a:off x="2056303" y="6334008"/>
            <a:ext cx="345460" cy="20611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-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位置</a:t>
            </a:r>
            <a:endParaRPr sz="1185" b="1" i="0" spc="-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S005-M032"/>
          <p:cNvSpPr txBox="1"/>
          <p:nvPr/>
        </p:nvSpPr>
        <p:spPr>
          <a:xfrm>
            <a:off x="4914717" y="5498575"/>
            <a:ext cx="812134" cy="2112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5" b="1" i="0" spc="-14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PowerPoint</a:t>
            </a:r>
            <a:endParaRPr sz="1265" b="1" i="0" spc="-14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005-M033"/>
          <p:cNvSpPr txBox="1"/>
          <p:nvPr/>
        </p:nvSpPr>
        <p:spPr>
          <a:xfrm>
            <a:off x="7022068" y="5503175"/>
            <a:ext cx="710050" cy="19153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-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WPS 演示</a:t>
            </a:r>
            <a:endParaRPr sz="1185" b="1" i="0" spc="-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S005-M034"/>
          <p:cNvSpPr txBox="1"/>
          <p:nvPr/>
        </p:nvSpPr>
        <p:spPr>
          <a:xfrm>
            <a:off x="9129418" y="5497131"/>
            <a:ext cx="782970" cy="2317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-1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已批准页面</a:t>
            </a:r>
            <a:endParaRPr sz="1115" b="1" i="0" spc="-1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S005-M035"/>
          <p:cNvSpPr txBox="1"/>
          <p:nvPr/>
        </p:nvSpPr>
        <p:spPr>
          <a:xfrm>
            <a:off x="9151291" y="5759504"/>
            <a:ext cx="753807" cy="2317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 spc="112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来源指纹</a:t>
            </a:r>
            <a:endParaRPr sz="1115" b="1" i="0" spc="112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S005-M036"/>
          <p:cNvSpPr txBox="1"/>
          <p:nvPr/>
        </p:nvSpPr>
        <p:spPr>
          <a:xfrm>
            <a:off x="9151291" y="5976891"/>
            <a:ext cx="753807" cy="23526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5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锁与预算</a:t>
            </a:r>
            <a:endParaRPr sz="1185" b="1" i="0" spc="115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S005-M037"/>
          <p:cNvSpPr txBox="1"/>
          <p:nvPr/>
        </p:nvSpPr>
        <p:spPr>
          <a:xfrm>
            <a:off x="9209630" y="6159094"/>
            <a:ext cx="1096524" cy="2717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45" b="1" i="0" spc="-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从有效检查点恢复</a:t>
            </a:r>
            <a:endParaRPr sz="1145" b="1" i="0" spc="-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S005-M038"/>
          <p:cNvSpPr txBox="1"/>
          <p:nvPr/>
        </p:nvSpPr>
        <p:spPr>
          <a:xfrm>
            <a:off x="11229478" y="5495885"/>
            <a:ext cx="622548" cy="2862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 spc="119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续作</a:t>
            </a:r>
            <a:endParaRPr sz="1185" b="1" i="0" spc="119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S005-M039"/>
          <p:cNvSpPr txBox="1"/>
          <p:nvPr/>
        </p:nvSpPr>
        <p:spPr>
          <a:xfrm>
            <a:off x="845609" y="1095023"/>
            <a:ext cx="294412" cy="34045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S005-M040"/>
          <p:cNvSpPr txBox="1"/>
          <p:nvPr/>
        </p:nvSpPr>
        <p:spPr>
          <a:xfrm>
            <a:off x="4613628" y="1095023"/>
            <a:ext cx="279831" cy="34045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S005-M041"/>
          <p:cNvSpPr txBox="1"/>
          <p:nvPr/>
        </p:nvSpPr>
        <p:spPr>
          <a:xfrm>
            <a:off x="8423288" y="1127706"/>
            <a:ext cx="272540" cy="3258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S005-M042"/>
          <p:cNvSpPr txBox="1"/>
          <p:nvPr/>
        </p:nvSpPr>
        <p:spPr>
          <a:xfrm>
            <a:off x="814799" y="3954728"/>
            <a:ext cx="294412" cy="3550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S005-M043"/>
          <p:cNvSpPr txBox="1"/>
          <p:nvPr/>
        </p:nvSpPr>
        <p:spPr>
          <a:xfrm>
            <a:off x="4671718" y="3960138"/>
            <a:ext cx="279831" cy="3550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S005-M044"/>
          <p:cNvSpPr txBox="1"/>
          <p:nvPr/>
        </p:nvSpPr>
        <p:spPr>
          <a:xfrm>
            <a:off x="8651888" y="3960138"/>
            <a:ext cx="279831" cy="35503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i="0" spc="154">
                <a:solidFill>
                  <a:srgbClr val="11191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500" i="0" spc="154">
              <a:solidFill>
                <a:srgbClr val="1119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Protected Graphic Repair - 字" descr="S005-protected-gly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770" y="5575313"/>
            <a:ext cx="875024" cy="969303"/>
          </a:xfrm>
          <a:prstGeom prst="rect">
            <a:avLst/>
          </a:prstGeom>
        </p:spPr>
      </p:pic>
      <p:sp>
        <p:nvSpPr>
          <p:cNvPr id="52" name="S005-M024"/>
          <p:cNvSpPr txBox="1"/>
          <p:nvPr/>
        </p:nvSpPr>
        <p:spPr>
          <a:xfrm>
            <a:off x="5082585" y="2657511"/>
            <a:ext cx="790261" cy="235264"/>
          </a:xfrm>
          <a:prstGeom prst="rect">
            <a:avLst/>
          </a:prstGeom>
          <a:noFill/>
          <a:scene3d>
            <a:camera prst="orthographicFront">
              <a:rot lat="0" lon="0" rev="600000"/>
            </a:camera>
            <a:lightRig rig="threePt" dir="t"/>
          </a:scene3d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i="0" spc="119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封</a:t>
            </a:r>
            <a:r>
              <a:rPr lang="en-US" altLang="zh-CN" sz="1400" b="1" i="0" spc="119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400" b="1" i="0" spc="119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</a:t>
            </a:r>
            <a:endParaRPr lang="zh-CN" sz="1400" b="1" i="0" spc="119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001-f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002-f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003-f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004-f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005-f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2121</Words>
  <Application>WPS 演示</Application>
  <PresentationFormat>自定义</PresentationFormat>
  <Paragraphs>268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黑体</vt:lpstr>
      <vt:lpstr>S001-fit</vt:lpstr>
      <vt:lpstr>S002-fit</vt:lpstr>
      <vt:lpstr>S003-fit</vt:lpstr>
      <vt:lpstr>S004-fit</vt:lpstr>
      <vt:lpstr>S005-fit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7F4607F07043421EB2F65461F36F59F1_12</vt:lpwstr>
  </property>
</Properties>
</file>